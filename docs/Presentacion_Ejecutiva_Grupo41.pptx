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BFBFBF"/>
              </a:solidFill>
            </c:spPr>
            <c:extLst>
              <c:ext xmlns:c16="http://schemas.microsoft.com/office/drawing/2014/chart" uri="{C3380CC4-5D6E-409C-BE32-E72D297353CC}">
                <c16:uniqueId val="{00000001-0F29-4276-A341-4A3B7C425E63}"/>
              </c:ext>
            </c:extLst>
          </c:dPt>
          <c:dPt>
            <c:idx val="1"/>
            <c:invertIfNegative val="1"/>
            <c:bubble3D val="0"/>
            <c:spPr>
              <a:solidFill>
                <a:srgbClr val="BFBFBF"/>
              </a:solidFill>
            </c:spPr>
            <c:extLst>
              <c:ext xmlns:c16="http://schemas.microsoft.com/office/drawing/2014/chart" uri="{C3380CC4-5D6E-409C-BE32-E72D297353CC}">
                <c16:uniqueId val="{00000003-0F29-4276-A341-4A3B7C425E63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05-0F29-4276-A341-4A3B7C425E63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07-0F29-4276-A341-4A3B7C425E63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09-0F29-4276-A341-4A3B7C425E63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es-A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Demográficas</c:v>
                </c:pt>
                <c:pt idx="1">
                  <c:v>Telefonía</c:v>
                </c:pt>
                <c:pt idx="2">
                  <c:v>Internet, cargo y pago</c:v>
                </c:pt>
                <c:pt idx="3">
                  <c:v>Servicios adicionales</c:v>
                </c:pt>
                <c:pt idx="4">
                  <c:v>Contrato y antigüedad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3.7499999999999999E-2</c:v>
                </c:pt>
                <c:pt idx="1">
                  <c:v>6.83E-2</c:v>
                </c:pt>
                <c:pt idx="2">
                  <c:v>0.18390000000000001</c:v>
                </c:pt>
                <c:pt idx="3">
                  <c:v>0.26950000000000002</c:v>
                </c:pt>
                <c:pt idx="4">
                  <c:v>0.44069999999999998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F29-4276-A341-4A3B7C425E6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/>
            </a:pPr>
            <a:endParaRPr lang="es-A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BFBFBF"/>
              </a:solidFill>
            </c:spPr>
            <c:extLst>
              <c:ext xmlns:c16="http://schemas.microsoft.com/office/drawing/2014/chart" uri="{C3380CC4-5D6E-409C-BE32-E72D297353CC}">
                <c16:uniqueId val="{00000001-F033-416A-B3B4-7A555DC7227E}"/>
              </c:ext>
            </c:extLst>
          </c:dPt>
          <c:dPt>
            <c:idx val="1"/>
            <c:invertIfNegative val="1"/>
            <c:bubble3D val="0"/>
            <c:spPr>
              <a:solidFill>
                <a:srgbClr val="8C8C8C"/>
              </a:solidFill>
            </c:spPr>
            <c:extLst>
              <c:ext xmlns:c16="http://schemas.microsoft.com/office/drawing/2014/chart" uri="{C3380CC4-5D6E-409C-BE32-E72D297353CC}">
                <c16:uniqueId val="{00000003-F033-416A-B3B4-7A555DC7227E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05-F033-416A-B3B4-7A555DC7227E}"/>
              </c:ext>
            </c:extLst>
          </c:dPt>
          <c:dLbls>
            <c:numFmt formatCode="&quot;USD 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es-A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Contacto al azar</c:v>
                </c:pt>
                <c:pt idx="1">
                  <c:v>Regla de negocio</c:v>
                </c:pt>
                <c:pt idx="2">
                  <c:v>Modelo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8586.8989999999994</c:v>
                </c:pt>
                <c:pt idx="1">
                  <c:v>19156.245999999999</c:v>
                </c:pt>
                <c:pt idx="2">
                  <c:v>28452.413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033-416A-B3B4-7A555DC7227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/>
            </a:pPr>
            <a:endParaRPr lang="es-A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Priorización de clientes para campañas de retención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Predicción de abandono (churn) en una empresa de telecomunicaciones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Proyecto Final Integrador · Diplomado en Ciencia de Datos y Análisis Avanzado (UTN.BA) · Unidad 9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Equipo N.º 41</a:t>
            </a:r>
            <a:r>
              <a:rPr sz="1600" b="0">
                <a:solidFill>
                  <a:srgbClr val="FFFFFF"/>
                </a:solidFill>
                <a:latin typeface="Arial"/>
              </a:rPr>
              <a:t> · Aguilar, Damian · Revelchione, Mateo · 10/10/2026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Arial"/>
              </a:rPr>
              <a:t>El problema: un cupo limitado de contactos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Arial"/>
              </a:rPr>
              <a:t>¿A quién conviene llamar primero para evitar bajas?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Proyecto Final Integrador · Equipo N.º 41 · Churn en telecomunicaciones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755648"/>
            <a:ext cx="3200400" cy="9052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F4E79"/>
                </a:solidFill>
                <a:latin typeface="Arial"/>
              </a:rPr>
              <a:t>20 %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51760"/>
            <a:ext cx="320040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Arial"/>
              </a:rPr>
              <a:t>de la cartera puede contactar el equipo de retención por campaña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3192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4041648"/>
            <a:ext cx="3200400" cy="9052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C00000"/>
                </a:solidFill>
                <a:latin typeface="Arial"/>
              </a:rPr>
              <a:t>26,5 %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937760"/>
            <a:ext cx="320040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Arial"/>
              </a:rPr>
              <a:t>de los clientes de la muestra figura como baja. Es la proporción de la muestra, no una tasa mensual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37360"/>
            <a:ext cx="7132320" cy="4389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Hoy la lista de contactos se arma </a:t>
            </a:r>
            <a:r>
              <a:rPr sz="1800" b="1">
                <a:solidFill>
                  <a:srgbClr val="262626"/>
                </a:solidFill>
                <a:latin typeface="Arial"/>
              </a:rPr>
              <a:t>sin un criterio sistemático</a:t>
            </a:r>
            <a:r>
              <a:rPr sz="1800" b="0">
                <a:solidFill>
                  <a:srgbClr val="262626"/>
                </a:solidFill>
                <a:latin typeface="Arial"/>
              </a:rPr>
              <a:t>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Cada llamada a alguien que no se iba es una oferta desperdiciada; cada baja que queda afuera es ingreso perdido.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El producto analítico es un </a:t>
            </a:r>
            <a:r>
              <a:rPr sz="1800" b="1">
                <a:solidFill>
                  <a:srgbClr val="262626"/>
                </a:solidFill>
                <a:latin typeface="Arial"/>
              </a:rPr>
              <a:t>ranking de riesgo</a:t>
            </a:r>
            <a:r>
              <a:rPr sz="1800" b="0">
                <a:solidFill>
                  <a:srgbClr val="262626"/>
                </a:solidFill>
                <a:latin typeface="Arial"/>
              </a:rPr>
              <a:t>: ordenar a los clientes y usar el cupo primero con los de mayor riesgo.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Audiencia: gerencia comercial y equipo de retención.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Arial"/>
              </a:rPr>
              <a:t>Cómo medimos el éxito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Arial"/>
              </a:rPr>
              <a:t>Metas fijadas en la pre-entrega, antes de entrenar ningún modelo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Proyecto Final Integrador · Equipo N.º 41 · Churn en telecomunicaciones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755648"/>
            <a:ext cx="3291840" cy="94640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4E79"/>
                </a:solidFill>
                <a:latin typeface="Arial"/>
              </a:rPr>
              <a:t>Recall @ 20 %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329184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% de las bajas que quedan dentro del cupo.
Meta: ≥ 40 % (el doble que el azar)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755648"/>
            <a:ext cx="3291840" cy="94640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4E79"/>
                </a:solidFill>
                <a:latin typeface="Arial"/>
              </a:rPr>
              <a:t>Precision @ 20 %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697480"/>
            <a:ext cx="329184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% de los contactados que realmente se iban: eficiencia de la campaña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64592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59" y="1755648"/>
            <a:ext cx="3154680" cy="94640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4E79"/>
                </a:solidFill>
                <a:latin typeface="Arial"/>
              </a:rPr>
              <a:t>ROC-AUC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59" y="2697480"/>
            <a:ext cx="315468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Calidad técnica del ranking.
Meta: ≥ 0,80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114800"/>
            <a:ext cx="11155680" cy="2103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262626"/>
                </a:solidFill>
                <a:latin typeface="Arial"/>
              </a:rPr>
              <a:t>Benchmarks:</a:t>
            </a:r>
            <a:r>
              <a:rPr sz="1700" b="0">
                <a:solidFill>
                  <a:srgbClr val="262626"/>
                </a:solidFill>
                <a:latin typeface="Arial"/>
              </a:rPr>
              <a:t> contacto al azar (captura ~20 % de las bajas) y una regla de negocio simple: contratos mes a mes de menor antigüedad primero.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262626"/>
                </a:solidFill>
                <a:latin typeface="Arial"/>
              </a:rPr>
              <a:t>Por qué no accuracy:</a:t>
            </a:r>
            <a:r>
              <a:rPr sz="1700" b="0">
                <a:solidFill>
                  <a:srgbClr val="262626"/>
                </a:solidFill>
                <a:latin typeface="Arial"/>
              </a:rPr>
              <a:t> predecir siempre "no se va" logra 73,5 % de accuracy y no prioriza a nadie.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Arial"/>
              </a:rPr>
              <a:t>Datos: fuente oficial, trazable y de buena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Proyecto Final Integrador · Equipo N.º 41 · Churn en telecomunicaciones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3611880" cy="45720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200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4E79"/>
                </a:solidFill>
                <a:latin typeface="Arial"/>
              </a:rPr>
              <a:t>Fuente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200400" cy="36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Telco Customer Churn (IBM)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7.043 clientes · 19 variables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Apache License 2.0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Sin datos personales reales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611880" cy="45720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645920"/>
            <a:ext cx="3200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4E79"/>
                </a:solidFill>
                <a:latin typeface="Arial"/>
              </a:rPr>
              <a:t>Trazabilidad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286000"/>
            <a:ext cx="3200400" cy="36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train/test del curso = partición exacta del archivo oficial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Baseline de la pre-entrega reproducido: ROC-AUC 0,848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Test del curso (1.409 clientes) como holdout nunca visto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63040"/>
            <a:ext cx="3611880" cy="45720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645920"/>
            <a:ext cx="3200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4E79"/>
                </a:solidFill>
                <a:latin typeface="Arial"/>
              </a:rPr>
              <a:t>Calidad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3200400" cy="36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0 nulos · 0 outliers (IQR)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11 blancos en TotalCharges: clientes nuevos → 0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22 perfiles repetidos: clientes distintos, se conservan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Arial"/>
              </a:rPr>
              <a:t>Qué se asocia a las bajas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Arial"/>
              </a:rPr>
              <a:t>Proporción de bajas por grupo (7.043 clientes)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Proyecto Final Integrador · Equipo N.º 41 · Churn en telecomunicaciones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5</a:t>
            </a:r>
          </a:p>
        </p:txBody>
      </p:sp>
      <p:pic>
        <p:nvPicPr>
          <p:cNvPr id="7" name="Picture 6" descr="fig_e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7588989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2440" y="1554480"/>
            <a:ext cx="3749039" cy="4754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262626"/>
                </a:solidFill>
                <a:latin typeface="Arial"/>
              </a:rPr>
              <a:t>Contrato mes a mes:</a:t>
            </a:r>
            <a:r>
              <a:rPr sz="1500" b="0">
                <a:solidFill>
                  <a:srgbClr val="262626"/>
                </a:solidFill>
                <a:latin typeface="Arial"/>
              </a:rPr>
              <a:t> 43 % de bajas vs 3 % en 2 años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62626"/>
                </a:solidFill>
                <a:latin typeface="Arial"/>
              </a:rPr>
              <a:t>Primeros 6 meses:</a:t>
            </a:r>
            <a:r>
              <a:rPr sz="1500" b="0">
                <a:solidFill>
                  <a:srgbClr val="262626"/>
                </a:solidFill>
                <a:latin typeface="Arial"/>
              </a:rPr>
              <a:t> 53 %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62626"/>
                </a:solidFill>
                <a:latin typeface="Arial"/>
              </a:rPr>
              <a:t>Sin servicios adicionales</a:t>
            </a:r>
            <a:r>
              <a:rPr sz="1500" b="0">
                <a:solidFill>
                  <a:srgbClr val="262626"/>
                </a:solidFill>
                <a:latin typeface="Arial"/>
              </a:rPr>
              <a:t> (con internet): 52 % vs 5 % con los seis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62626"/>
                </a:solidFill>
                <a:latin typeface="Arial"/>
              </a:rPr>
              <a:t>Cheque electrónico:</a:t>
            </a:r>
            <a:r>
              <a:rPr sz="1500" b="0">
                <a:solidFill>
                  <a:srgbClr val="262626"/>
                </a:solidFill>
                <a:latin typeface="Arial"/>
              </a:rPr>
              <a:t> 45 % · </a:t>
            </a:r>
            <a:r>
              <a:rPr sz="1500" b="1">
                <a:solidFill>
                  <a:srgbClr val="262626"/>
                </a:solidFill>
                <a:latin typeface="Arial"/>
              </a:rPr>
              <a:t>fibra óptica:</a:t>
            </a:r>
            <a:r>
              <a:rPr sz="1500" b="0">
                <a:solidFill>
                  <a:srgbClr val="262626"/>
                </a:solidFill>
                <a:latin typeface="Arial"/>
              </a:rPr>
              <a:t> 42 %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Género: no discrimina (27 % vs 26 %)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Arial"/>
              </a:rPr>
              <a:t>Cinco algoritmos y una regla definida antes de mirar el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Arial"/>
              </a:rPr>
              <a:t>Validación cruzada de 5 folds sobre 5.634 clientes · metodología CRISP-DM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Proyecto Final Integrador · Equipo N.º 41 · Churn en telecomunicaciones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65836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Modelo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ROC-AUC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Recall @ 20 %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Empatado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62626"/>
                          </a:solidFill>
                          <a:latin typeface="Arial"/>
                        </a:rPr>
                        <a:t>Regresión logística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62626"/>
                          </a:solidFill>
                          <a:latin typeface="Arial"/>
                        </a:rPr>
                        <a:t>0,846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62626"/>
                          </a:solidFill>
                          <a:latin typeface="Arial"/>
                        </a:rPr>
                        <a:t>50,6 %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62626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2626"/>
                          </a:solidFill>
                          <a:latin typeface="Arial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62626"/>
                          </a:solidFill>
                          <a:latin typeface="Arial"/>
                        </a:rPr>
                        <a:t>0,844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62626"/>
                          </a:solidFill>
                          <a:latin typeface="Arial"/>
                        </a:rPr>
                        <a:t>50,7 %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62626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2626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62626"/>
                          </a:solidFill>
                          <a:latin typeface="Arial"/>
                        </a:rPr>
                        <a:t>0,844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62626"/>
                          </a:solidFill>
                          <a:latin typeface="Arial"/>
                        </a:rPr>
                        <a:t>50,2 %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62626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2626"/>
                          </a:solidFill>
                          <a:latin typeface="Arial"/>
                        </a:rPr>
                        <a:t>Naive Bayes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62626"/>
                          </a:solidFill>
                          <a:latin typeface="Arial"/>
                        </a:rPr>
                        <a:t>0,820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62626"/>
                          </a:solidFill>
                          <a:latin typeface="Arial"/>
                        </a:rPr>
                        <a:t>48,8 %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62626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2626"/>
                          </a:solidFill>
                          <a:latin typeface="Arial"/>
                        </a:rPr>
                        <a:t>kNN (k=15)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62626"/>
                          </a:solidFill>
                          <a:latin typeface="Arial"/>
                        </a:rPr>
                        <a:t>0,819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62626"/>
                          </a:solidFill>
                          <a:latin typeface="Arial"/>
                        </a:rPr>
                        <a:t>47,6 %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62626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98079" y="1600200"/>
            <a:ext cx="4297680" cy="457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262626"/>
                </a:solidFill>
                <a:latin typeface="Arial"/>
              </a:rPr>
              <a:t>Regla de selección: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1. ROC-AUC ≥ 0,80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2. Empate: a menos de un desvío del mejor Recall @ 20 %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3. Si empata la logística, se elige la logística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62626"/>
                </a:solidFill>
                <a:latin typeface="Arial"/>
              </a:rPr>
              <a:t>Resultado:</a:t>
            </a:r>
            <a:r>
              <a:rPr sz="1600" b="0">
                <a:solidFill>
                  <a:srgbClr val="262626"/>
                </a:solidFill>
                <a:latin typeface="Arial"/>
              </a:rPr>
              <a:t> empatan 4 modelos → </a:t>
            </a:r>
            <a:r>
              <a:rPr sz="1600" b="1">
                <a:solidFill>
                  <a:srgbClr val="262626"/>
                </a:solidFill>
                <a:latin typeface="Arial"/>
              </a:rPr>
              <a:t>regresión logística</a:t>
            </a:r>
            <a:r>
              <a:rPr sz="1600" b="0">
                <a:solidFill>
                  <a:srgbClr val="262626"/>
                </a:solidFill>
                <a:latin typeface="Arial"/>
              </a:rPr>
              <a:t>: más simple, interpretable y entrena en 0,05 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Arial"/>
              </a:rPr>
              <a:t>Con el 20 % de los contactos se captura la mitad de las bajas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Arial"/>
              </a:rPr>
              <a:t>Test: 1.409 clientes que no participaron de ninguna decisión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Proyecto Final Integrador · Equipo N.º 41 · Churn en telecomunicaciones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618488"/>
            <a:ext cx="23317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4E79"/>
                </a:solidFill>
                <a:latin typeface="Arial"/>
              </a:rPr>
              <a:t>49,7 %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23317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de las bajas capturadas (IC 95 %: 46-55 %)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50876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40" y="1618488"/>
            <a:ext cx="23317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4E79"/>
                </a:solidFill>
                <a:latin typeface="Arial"/>
              </a:rPr>
              <a:t>66,0 %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240280"/>
            <a:ext cx="23317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de los contactados realmente se iba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15468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264408"/>
            <a:ext cx="23317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4E79"/>
                </a:solidFill>
                <a:latin typeface="Arial"/>
              </a:rPr>
              <a:t>2,5x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86200"/>
            <a:ext cx="23317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mejor que contactar al azar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315468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20440" y="3264408"/>
            <a:ext cx="23317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C00000"/>
                </a:solidFill>
                <a:latin typeface="Arial"/>
              </a:rPr>
              <a:t>54 %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886200"/>
            <a:ext cx="23317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del ingreso mensual en riesgo (regla: 38 %)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46320"/>
            <a:ext cx="557784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Regla de negocio: 44,7 %. El modelo suma </a:t>
            </a:r>
            <a:r>
              <a:rPr sz="1400" b="1">
                <a:solidFill>
                  <a:srgbClr val="262626"/>
                </a:solidFill>
                <a:latin typeface="Arial"/>
              </a:rPr>
              <a:t>+5,1 p.p.</a:t>
            </a:r>
            <a:r>
              <a:rPr sz="1400" b="0">
                <a:solidFill>
                  <a:srgbClr val="262626"/>
                </a:solidFill>
                <a:latin typeface="Arial"/>
              </a:rPr>
              <a:t> de bajas y prioriza a quienes pagan más.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Metas cumplidas: Recall @ 20 % ≥ 40 % y ROC-AUC 0,842.</a:t>
            </a:r>
          </a:p>
        </p:txBody>
      </p:sp>
      <p:pic>
        <p:nvPicPr>
          <p:cNvPr id="20" name="Picture 19" descr="gana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486400" cy="423033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09360" y="5806440"/>
            <a:ext cx="5486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Arial"/>
              </a:rPr>
              <a:t>Curva de ganancia: % de bajas capturadas según % de la cartera contactada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Arial"/>
              </a:rPr>
              <a:t>¿Por qué el modelo prioriza a un cliente?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Arial"/>
              </a:rPr>
              <a:t>Peso de cada bloque de variables en las decisiones del modelo (SHAP)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Proyecto Final Integrador · Equipo N.º 41 · Churn en telecomunicaciones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8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11480" y="1371600"/>
          <a:ext cx="603504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66560" y="1554480"/>
            <a:ext cx="5029200" cy="4754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262626"/>
                </a:solidFill>
                <a:latin typeface="Arial"/>
              </a:rPr>
              <a:t>Empujan hacia la baja:</a:t>
            </a:r>
            <a:r>
              <a:rPr sz="1500" b="0">
                <a:solidFill>
                  <a:srgbClr val="262626"/>
                </a:solidFill>
                <a:latin typeface="Arial"/>
              </a:rPr>
              <a:t> contrato mes a mes, pocos meses de antigüedad, fibra óptica, sin seguridad online ni soporte técnico.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62626"/>
                </a:solidFill>
                <a:latin typeface="Arial"/>
              </a:rPr>
              <a:t>Las variables demográficas casi no aportan</a:t>
            </a:r>
            <a:r>
              <a:rPr sz="1500" b="0">
                <a:solidFill>
                  <a:srgbClr val="262626"/>
                </a:solidFill>
                <a:latin typeface="Arial"/>
              </a:rPr>
              <a:t> (4 %): se pueden quitar sin perder desempeño.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62626"/>
                </a:solidFill>
                <a:latin typeface="Arial"/>
              </a:rPr>
              <a:t>Ejemplo real:</a:t>
            </a:r>
            <a:r>
              <a:rPr sz="1500" b="0">
                <a:solidFill>
                  <a:srgbClr val="262626"/>
                </a:solidFill>
                <a:latin typeface="Arial"/>
              </a:rPr>
              <a:t> cliente con 4 meses, fibra y contrato mes a mes → score 65,9 % (se dio de baja). Acción sugerida: ofrecer contrato anual y soporte técnico.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SHAP explica cómo decide el modelo; no prueba causalidad.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Arial"/>
              </a:rPr>
              <a:t>Valor para el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Arial"/>
              </a:rPr>
              <a:t>Beneficio neto por campaña cada 1.000 clientes · escenario paramétrico, no son costos reales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Proyecto Final Integrador · Equipo N.º 41 · Churn en telecomunicaciones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9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11480" y="1463040"/>
          <a:ext cx="603504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66560" y="1554480"/>
            <a:ext cx="5029200" cy="4754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262626"/>
                </a:solidFill>
                <a:latin typeface="Arial"/>
              </a:rPr>
              <a:t>+USD 9.296</a:t>
            </a:r>
            <a:r>
              <a:rPr sz="1500" b="0">
                <a:solidFill>
                  <a:srgbClr val="262626"/>
                </a:solidFill>
                <a:latin typeface="Arial"/>
              </a:rPr>
              <a:t> frente a la regla actual y </a:t>
            </a:r>
            <a:r>
              <a:rPr sz="1500" b="1">
                <a:solidFill>
                  <a:srgbClr val="262626"/>
                </a:solidFill>
                <a:latin typeface="Arial"/>
              </a:rPr>
              <a:t>+USD 19.866</a:t>
            </a:r>
            <a:r>
              <a:rPr sz="1500" b="0">
                <a:solidFill>
                  <a:srgbClr val="262626"/>
                </a:solidFill>
                <a:latin typeface="Arial"/>
              </a:rPr>
              <a:t> frente al azar, por campaña cada 1.000 clientes.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El modelo no pierde plata con solo </a:t>
            </a:r>
            <a:r>
              <a:rPr sz="1500" b="1">
                <a:solidFill>
                  <a:srgbClr val="262626"/>
                </a:solidFill>
                <a:latin typeface="Arial"/>
              </a:rPr>
              <a:t>2,4 % de retención</a:t>
            </a:r>
            <a:r>
              <a:rPr sz="1500" b="0">
                <a:solidFill>
                  <a:srgbClr val="262626"/>
                </a:solidFill>
                <a:latin typeface="Arial"/>
              </a:rPr>
              <a:t> de las bajas contactadas.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Supuestos: USD 15 por contacto, 25 % de retención, 12 meses de ingreso. Con 10 % de retención y USD 25 por contacto sigue en positivo.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El valor real depende de la proporción de bajas en la cartera activa: se mide en un piloto.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Arial"/>
              </a:rPr>
              <a:t>Ética y riesgos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Proyecto Final Integrador · Equipo N.º 41 · Churn en telecomunicaciones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5486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4E79"/>
                </a:solidFill>
                <a:latin typeface="Arial"/>
              </a:rPr>
              <a:t>Auditoría por grupos (test)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5486400" cy="4389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Adultos mayores: </a:t>
            </a:r>
            <a:r>
              <a:rPr sz="1500" b="1">
                <a:solidFill>
                  <a:srgbClr val="262626"/>
                </a:solidFill>
                <a:latin typeface="Arial"/>
              </a:rPr>
              <a:t>38 %</a:t>
            </a:r>
            <a:r>
              <a:rPr sz="1500" b="0">
                <a:solidFill>
                  <a:srgbClr val="262626"/>
                </a:solidFill>
                <a:latin typeface="Arial"/>
              </a:rPr>
              <a:t> seleccionados vs 17 % del resto.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Clientes con hijos a cargo: el modelo captura </a:t>
            </a:r>
            <a:r>
              <a:rPr sz="1500" b="1">
                <a:solidFill>
                  <a:srgbClr val="262626"/>
                </a:solidFill>
                <a:latin typeface="Arial"/>
              </a:rPr>
              <a:t>27 %</a:t>
            </a:r>
            <a:r>
              <a:rPr sz="1500" b="0">
                <a:solidFill>
                  <a:srgbClr val="262626"/>
                </a:solidFill>
                <a:latin typeface="Arial"/>
              </a:rPr>
              <a:t> de sus bajas vs 55 %.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Género: equilibrado.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Sin las 4 variables demográficas el desempeño es el mismo (49,2 % vs 49,7 %) → </a:t>
            </a:r>
            <a:r>
              <a:rPr sz="1500" b="1">
                <a:solidFill>
                  <a:srgbClr val="262626"/>
                </a:solidFill>
                <a:latin typeface="Arial"/>
              </a:rPr>
              <a:t>recomendamos esa versión</a:t>
            </a:r>
            <a:r>
              <a:rPr sz="1500" b="0">
                <a:solidFill>
                  <a:srgbClr val="262626"/>
                </a:solidFill>
                <a:latin typeface="Arial"/>
              </a:rPr>
              <a:t> y monitorear la selección por grupo: la diferencia por edad persiste por variables proxy.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5486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4E79"/>
                </a:solidFill>
                <a:latin typeface="Arial"/>
              </a:rPr>
              <a:t>Riesgos y mitigaciones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486400" cy="4389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262626"/>
                </a:solidFill>
                <a:latin typeface="Arial"/>
              </a:rPr>
              <a:t>Sin fechas en los datos</a:t>
            </a:r>
            <a:r>
              <a:rPr sz="1500" b="0">
                <a:solidFill>
                  <a:srgbClr val="262626"/>
                </a:solidFill>
                <a:latin typeface="Arial"/>
              </a:rPr>
              <a:t> → validar con cortes temporales y reentrenar.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62626"/>
                </a:solidFill>
                <a:latin typeface="Arial"/>
              </a:rPr>
              <a:t>Datos de muestra (telco ficticia)</a:t>
            </a:r>
            <a:r>
              <a:rPr sz="1500" b="0">
                <a:solidFill>
                  <a:srgbClr val="262626"/>
                </a:solidFill>
                <a:latin typeface="Arial"/>
              </a:rPr>
              <a:t> → piloto A/B antes de escalar.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62626"/>
                </a:solidFill>
                <a:latin typeface="Arial"/>
              </a:rPr>
              <a:t>Efecto de la propia campaña</a:t>
            </a:r>
            <a:r>
              <a:rPr sz="1500" b="0">
                <a:solidFill>
                  <a:srgbClr val="262626"/>
                </a:solidFill>
                <a:latin typeface="Arial"/>
              </a:rPr>
              <a:t> → 5-10 % de la cartera como grupo de control.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62626"/>
                </a:solidFill>
                <a:latin typeface="Arial"/>
              </a:rPr>
              <a:t>Ofertas a quien no se iba</a:t>
            </a:r>
            <a:r>
              <a:rPr sz="1500" b="0">
                <a:solidFill>
                  <a:srgbClr val="262626"/>
                </a:solidFill>
                <a:latin typeface="Arial"/>
              </a:rPr>
              <a:t> (34 % del cupo) → incentivos escalonados.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62626"/>
                </a:solidFill>
                <a:latin typeface="Arial"/>
              </a:rPr>
              <a:t>Privacidad con datos reales</a:t>
            </a:r>
            <a:r>
              <a:rPr sz="1500" b="0">
                <a:solidFill>
                  <a:srgbClr val="262626"/>
                </a:solidFill>
                <a:latin typeface="Arial"/>
              </a:rPr>
              <a:t> → Ley 25.326: minimización y acceso restringido.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Arial"/>
              </a:rPr>
              <a:t>Recomendación: piloto antes de desplegar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Proyecto Final Integrador · Equipo N.º 41 · Churn en telecomunicaciones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645920"/>
            <a:ext cx="731520" cy="7315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7315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06040"/>
            <a:ext cx="26517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4E79"/>
                </a:solidFill>
                <a:latin typeface="Arial"/>
              </a:rPr>
              <a:t>Datos reales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54680"/>
            <a:ext cx="2606040" cy="2377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Reconstruir el dataset desde el CRM con fecha de corte y ventana de observación de 30/90 días.</a:t>
            </a:r>
          </a:p>
        </p:txBody>
      </p:sp>
      <p:sp>
        <p:nvSpPr>
          <p:cNvPr id="10" name="Oval 9"/>
          <p:cNvSpPr/>
          <p:nvPr/>
        </p:nvSpPr>
        <p:spPr>
          <a:xfrm>
            <a:off x="3355848" y="1645920"/>
            <a:ext cx="731520" cy="7315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55848" y="1719072"/>
            <a:ext cx="7315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2606040"/>
            <a:ext cx="26517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4E79"/>
                </a:solidFill>
                <a:latin typeface="Arial"/>
              </a:rPr>
              <a:t>Piloto A/B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3154680"/>
            <a:ext cx="2606040" cy="2377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2-3 campañas: modelo sin variables demográficas vs regla actual, mismo presupuesto y grupo de control.</a:t>
            </a:r>
          </a:p>
        </p:txBody>
      </p:sp>
      <p:sp>
        <p:nvSpPr>
          <p:cNvPr id="14" name="Oval 13"/>
          <p:cNvSpPr/>
          <p:nvPr/>
        </p:nvSpPr>
        <p:spPr>
          <a:xfrm>
            <a:off x="6208776" y="1645920"/>
            <a:ext cx="731520" cy="7315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08776" y="1719072"/>
            <a:ext cx="7315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606040"/>
            <a:ext cx="26517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4E79"/>
                </a:solidFill>
                <a:latin typeface="Arial"/>
              </a:rPr>
              <a:t>Medir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3154680"/>
            <a:ext cx="2606040" cy="2377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Bajas evitadas, costo por cliente retenido, Recall @ 20 % y selección por grupo.</a:t>
            </a:r>
          </a:p>
        </p:txBody>
      </p:sp>
      <p:sp>
        <p:nvSpPr>
          <p:cNvPr id="18" name="Oval 17"/>
          <p:cNvSpPr/>
          <p:nvPr/>
        </p:nvSpPr>
        <p:spPr>
          <a:xfrm>
            <a:off x="9061704" y="1645920"/>
            <a:ext cx="731520" cy="7315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61704" y="1719072"/>
            <a:ext cx="7315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1704" y="2606040"/>
            <a:ext cx="26517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4E79"/>
                </a:solidFill>
                <a:latin typeface="Arial"/>
              </a:rPr>
              <a:t>Escalar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1704" y="3154680"/>
            <a:ext cx="2606040" cy="2377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Solo si el piloto confirma el beneficio. Probar XGBoost y sumar datos de uso y reclamos.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669280"/>
            <a:ext cx="111556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Arial"/>
              </a:rPr>
              <a:t>Código y resultados: github.com/mateorevelchione/DCDyAA-Unidad9-Grupo41-Churn-Telco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1299</Words>
  <Application>Microsoft Office PowerPoint</Application>
  <PresentationFormat>Panorámica</PresentationFormat>
  <Paragraphs>147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ejecutiva - Proyecto Final Integrador - Equipo 41</dc:title>
  <dc:subject/>
  <dc:creator>Damian Aguilar; Mateo Revelchione</dc:creator>
  <cp:keywords/>
  <dc:description/>
  <cp:lastModifiedBy>Mateo Revelchione</cp:lastModifiedBy>
  <cp:revision>1</cp:revision>
  <dcterms:created xsi:type="dcterms:W3CDTF">2026-10-10T11:20:00Z</dcterms:created>
  <dcterms:modified xsi:type="dcterms:W3CDTF">2026-10-10T16:29:59Z</dcterms:modified>
  <cp:category/>
</cp:coreProperties>
</file>